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64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D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654" autoAdjust="0"/>
  </p:normalViewPr>
  <p:slideViewPr>
    <p:cSldViewPr snapToGrid="0" snapToObjects="1">
      <p:cViewPr varScale="1">
        <p:scale>
          <a:sx n="84" d="100"/>
          <a:sy n="84" d="100"/>
        </p:scale>
        <p:origin x="54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59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Altitecture is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opgericht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door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ervaren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IT-professionals met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gezamenlijke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ervaring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van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75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het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bouwen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van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grootschalige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Maatwerk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softwareoplossingen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voorheen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ondernemingen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haalbaar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was, nu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wordt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mogelijk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grote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groep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bedrijven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instellingen</a:t>
            </a:r>
            <a:endParaRPr lang="en-US" sz="12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dirty="0">
              <a:solidFill>
                <a:srgbClr val="BFC9C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rgbClr val="BFC9C3"/>
              </a:solidFill>
              <a:latin typeface="Arial" pitchFamily="34" charset="0"/>
              <a:cs typeface="Arial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Van </a:t>
            </a:r>
            <a:r>
              <a:rPr lang="en-US" dirty="0" err="1">
                <a:solidFill>
                  <a:schemeClr val="bg1"/>
                </a:solidFill>
              </a:rPr>
              <a:t>waterval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naar</a:t>
            </a:r>
            <a:r>
              <a:rPr lang="en-US" dirty="0">
                <a:solidFill>
                  <a:schemeClr val="bg1"/>
                </a:solidFill>
              </a:rPr>
              <a:t> agile, </a:t>
            </a:r>
            <a:r>
              <a:rPr lang="en-US" dirty="0" err="1">
                <a:solidFill>
                  <a:schemeClr val="bg1"/>
                </a:solidFill>
              </a:rPr>
              <a:t>naar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nieuw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iteratief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proces</a:t>
            </a:r>
            <a:r>
              <a:rPr lang="en-US" dirty="0">
                <a:solidFill>
                  <a:schemeClr val="bg1"/>
                </a:solidFill>
              </a:rPr>
              <a:t> met AI: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Spec driven development met AI.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NL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A95C-773F-C8F1-6171-F7BDF4FA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5E3CC-C27F-C770-405D-80D6EB900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C23F4-C807-E217-DC92-AD2B5A3A6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Van </a:t>
            </a:r>
            <a:r>
              <a:rPr lang="en-US" dirty="0" err="1">
                <a:solidFill>
                  <a:schemeClr val="bg1"/>
                </a:solidFill>
              </a:rPr>
              <a:t>waterval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naar</a:t>
            </a:r>
            <a:r>
              <a:rPr lang="en-US" dirty="0">
                <a:solidFill>
                  <a:schemeClr val="bg1"/>
                </a:solidFill>
              </a:rPr>
              <a:t> agile, </a:t>
            </a:r>
            <a:r>
              <a:rPr lang="en-US" dirty="0" err="1">
                <a:solidFill>
                  <a:schemeClr val="bg1"/>
                </a:solidFill>
              </a:rPr>
              <a:t>naar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nieuw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iteratief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proces</a:t>
            </a:r>
            <a:r>
              <a:rPr lang="en-US" dirty="0">
                <a:solidFill>
                  <a:schemeClr val="bg1"/>
                </a:solidFill>
              </a:rPr>
              <a:t> met AI: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Spec driven development met AI</a:t>
            </a:r>
            <a:endParaRPr lang="en-NL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DF14C-E47F-18A5-DA3E-68F4CAE44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2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1609" y="2596614"/>
            <a:ext cx="2700777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nl-NL" sz="4400" b="1" noProof="0" dirty="0">
                <a:solidFill>
                  <a:srgbClr val="89D6B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Altitecture</a:t>
            </a:r>
            <a:endParaRPr lang="nl-NL" sz="4400" noProof="0" dirty="0">
              <a:solidFill>
                <a:srgbClr val="89D6B3"/>
              </a:solidFill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810657" y="3407064"/>
            <a:ext cx="55226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nl-NL" sz="1600" noProof="0" dirty="0">
                <a:solidFill>
                  <a:srgbClr val="BFC9C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Een nieuw tijdperk in maatwerksoftware is aangebroken</a:t>
            </a:r>
            <a:endParaRPr lang="nl-NL" sz="1600" noProof="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ACFEB5-A7E7-90B8-FDDE-7BCCCC5B5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923" y="551542"/>
            <a:ext cx="2418151" cy="215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846196E-D429-E217-E298-C9BB38C6FD14}"/>
              </a:ext>
            </a:extLst>
          </p:cNvPr>
          <p:cNvSpPr txBox="1"/>
          <p:nvPr/>
        </p:nvSpPr>
        <p:spPr>
          <a:xfrm>
            <a:off x="552605" y="1117363"/>
            <a:ext cx="6688049" cy="2126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noProof="0" dirty="0">
                <a:solidFill>
                  <a:schemeClr val="bg1"/>
                </a:solidFill>
                <a:latin typeface="Manrope Light" pitchFamily="2" charset="0"/>
              </a:rPr>
              <a:t>Altitecture is opgericht door drie ervaren IT-professionals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noProof="0" dirty="0">
                <a:solidFill>
                  <a:schemeClr val="bg1"/>
                </a:solidFill>
                <a:latin typeface="Manrope Light" pitchFamily="2" charset="0"/>
              </a:rPr>
              <a:t>Ontstaan uit een bestaande jarenlange samenwerking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noProof="0" dirty="0">
                <a:solidFill>
                  <a:schemeClr val="bg1"/>
                </a:solidFill>
                <a:latin typeface="Manrope Light" pitchFamily="2" charset="0"/>
              </a:rPr>
              <a:t>Ervaring met grote en kleine maatwerk softwareoplossingen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  <a:latin typeface="Manrope Light" pitchFamily="2" charset="0"/>
              </a:rPr>
              <a:t>Gecombineerd met AI efficiëntie</a:t>
            </a:r>
            <a:endParaRPr lang="nl-NL" noProof="0" dirty="0">
              <a:solidFill>
                <a:schemeClr val="bg1"/>
              </a:solidFill>
              <a:latin typeface="Manrope Light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nl-NL" noProof="0" dirty="0">
              <a:solidFill>
                <a:schemeClr val="bg1"/>
              </a:solidFill>
              <a:latin typeface="Manrope Light" pitchFamily="2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634901" y="507950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0"/>
              </a:spcBef>
              <a:spcAft>
                <a:spcPts val="600"/>
              </a:spcAft>
              <a:buNone/>
            </a:pPr>
            <a:r>
              <a:rPr lang="nl-NL" sz="2800" b="1" noProof="0" dirty="0">
                <a:solidFill>
                  <a:srgbClr val="89D6B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Wie zijn wij?</a:t>
            </a:r>
            <a:endParaRPr lang="nl-NL" sz="2800" noProof="0" dirty="0">
              <a:latin typeface="Manrope Ligh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938" y="2832006"/>
            <a:ext cx="3174950" cy="2003078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8" name="Text 6"/>
          <p:cNvSpPr/>
          <p:nvPr/>
        </p:nvSpPr>
        <p:spPr>
          <a:xfrm>
            <a:off x="5974738" y="3149268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nl-NL" sz="1200" b="1" noProof="0" dirty="0">
                <a:solidFill>
                  <a:srgbClr val="89D6B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ONZE MISSIE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67372" y="3333180"/>
            <a:ext cx="261665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00"/>
              </a:spcAft>
              <a:buNone/>
            </a:pPr>
            <a:r>
              <a:rPr lang="nl-NL" sz="1400" b="1" noProof="0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Enterprise-kwaliteit software, toegankelijk voor iedereen</a:t>
            </a:r>
            <a:endParaRPr lang="nl-NL" sz="1400" noProof="0" dirty="0">
              <a:latin typeface="Manrope Ligh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74738" y="3981108"/>
            <a:ext cx="261665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nl-NL" sz="105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Drie oprichters. 75+ jaar ervaring. Een gedeelde visie op de toekomst van softwareontwikkeling.</a:t>
            </a:r>
            <a:endParaRPr lang="nl-NL" sz="1050" noProof="0" dirty="0">
              <a:latin typeface="Manrope Light" pitchFamily="2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BAE1151-D77C-F047-3FC8-B6A338DAA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89" y="0"/>
            <a:ext cx="1105838" cy="98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5">
            <a:extLst>
              <a:ext uri="{FF2B5EF4-FFF2-40B4-BE49-F238E27FC236}">
                <a16:creationId xmlns:a16="http://schemas.microsoft.com/office/drawing/2014/main" id="{4EEA643A-BF29-5932-9D1B-16FC14531BC0}"/>
              </a:ext>
            </a:extLst>
          </p:cNvPr>
          <p:cNvSpPr/>
          <p:nvPr/>
        </p:nvSpPr>
        <p:spPr>
          <a:xfrm>
            <a:off x="5990540" y="2105665"/>
            <a:ext cx="2545063" cy="171090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D02CF72-A84B-2A49-8E37-1D3228DF163E}"/>
              </a:ext>
            </a:extLst>
          </p:cNvPr>
          <p:cNvSpPr/>
          <p:nvPr/>
        </p:nvSpPr>
        <p:spPr>
          <a:xfrm>
            <a:off x="3253916" y="2105666"/>
            <a:ext cx="2545063" cy="171090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009BB1B9-C931-0FCB-68E6-F05E81679B7D}"/>
              </a:ext>
            </a:extLst>
          </p:cNvPr>
          <p:cNvSpPr/>
          <p:nvPr/>
        </p:nvSpPr>
        <p:spPr>
          <a:xfrm>
            <a:off x="510381" y="2111049"/>
            <a:ext cx="2545063" cy="1710905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3" name="Text 1"/>
          <p:cNvSpPr/>
          <p:nvPr/>
        </p:nvSpPr>
        <p:spPr>
          <a:xfrm>
            <a:off x="556084" y="1196828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0"/>
              </a:spcAft>
            </a:pPr>
            <a:r>
              <a:rPr lang="nl-NL" sz="130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Tot een jaar geleden : Maatwerk softwareontwikkeling. </a:t>
            </a:r>
            <a:r>
              <a:rPr lang="nl-NL" sz="13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Een lange doorlooptijd en kostbaar.</a:t>
            </a:r>
            <a:br>
              <a:rPr lang="nl-NL" sz="13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</a:br>
            <a:r>
              <a:rPr lang="nl-NL" sz="13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Maar nu: </a:t>
            </a:r>
            <a:endParaRPr lang="nl-NL" sz="1300" noProof="0" dirty="0">
              <a:latin typeface="Manrope Light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6985" y="2386190"/>
            <a:ext cx="18530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nl-NL" sz="1400" b="1" noProof="0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Versnelling</a:t>
            </a:r>
            <a:endParaRPr lang="nl-NL" sz="1400" noProof="0" dirty="0">
              <a:latin typeface="Manrope Ligh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6985" y="2756952"/>
            <a:ext cx="233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nl-NL" sz="1100" noProof="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plaats </a:t>
            </a:r>
            <a:r>
              <a:rPr lang="nl-NL" sz="110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maanden</a:t>
            </a:r>
            <a:r>
              <a:rPr lang="nl-NL" sz="1100" noProof="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 weken voor een eerste oplevering</a:t>
            </a:r>
            <a:endParaRPr lang="nl-NL" sz="1100" noProof="0" dirty="0"/>
          </a:p>
        </p:txBody>
      </p:sp>
      <p:sp>
        <p:nvSpPr>
          <p:cNvPr id="8" name="Text 4"/>
          <p:cNvSpPr/>
          <p:nvPr/>
        </p:nvSpPr>
        <p:spPr>
          <a:xfrm>
            <a:off x="3253916" y="2386190"/>
            <a:ext cx="14950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nl-NL" sz="1400" b="1" noProof="0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Lagere kosten</a:t>
            </a:r>
            <a:endParaRPr lang="nl-NL" sz="1400" noProof="0" dirty="0">
              <a:latin typeface="Manrope Light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406065" y="2756952"/>
            <a:ext cx="23317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nl-NL" sz="1100" noProof="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grote teams nodig, waardoor  trajecten duur worden en budgetten die uit de hand lopen</a:t>
            </a:r>
            <a:endParaRPr lang="nl-NL" sz="1100" noProof="0" dirty="0"/>
          </a:p>
        </p:txBody>
      </p:sp>
      <p:sp>
        <p:nvSpPr>
          <p:cNvPr id="11" name="Text 6"/>
          <p:cNvSpPr/>
          <p:nvPr/>
        </p:nvSpPr>
        <p:spPr>
          <a:xfrm>
            <a:off x="6146505" y="2386190"/>
            <a:ext cx="21525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nl-NL" sz="1400" b="1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Digitale soevereiniteit</a:t>
            </a:r>
            <a:endParaRPr lang="nl-NL" sz="1400" noProof="0" dirty="0">
              <a:latin typeface="Manrope Light" pitchFamily="2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146505" y="2751567"/>
            <a:ext cx="223313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nl-NL" sz="1100" dirty="0">
                <a:solidFill>
                  <a:srgbClr val="BFC9C3"/>
                </a:solidFill>
                <a:latin typeface="Arial" pitchFamily="34" charset="0"/>
                <a:cs typeface="Arial" pitchFamily="34" charset="-120"/>
              </a:rPr>
              <a:t>Maatwerk software kan, maar hoeft zeker geen gebruik te maken van de datacenters buiten de EU</a:t>
            </a:r>
            <a:endParaRPr lang="nl-NL" sz="1100" noProof="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5EF445A5-5B73-C277-EAF7-AA264561C946}"/>
              </a:ext>
            </a:extLst>
          </p:cNvPr>
          <p:cNvSpPr/>
          <p:nvPr/>
        </p:nvSpPr>
        <p:spPr>
          <a:xfrm>
            <a:off x="556084" y="416101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0"/>
              </a:spcBef>
              <a:spcAft>
                <a:spcPts val="600"/>
              </a:spcAft>
              <a:buNone/>
            </a:pPr>
            <a:r>
              <a:rPr lang="nl-NL" sz="2800" b="1" dirty="0">
                <a:solidFill>
                  <a:srgbClr val="89D6B3"/>
                </a:solidFill>
                <a:latin typeface="Manrope Light" pitchFamily="2" charset="0"/>
                <a:cs typeface="Arial" pitchFamily="34" charset="-120"/>
              </a:rPr>
              <a:t>Wat kunnen wij betekenen?</a:t>
            </a:r>
            <a:endParaRPr lang="nl-NL" sz="2800" noProof="0" dirty="0">
              <a:latin typeface="Manrope Light" pitchFamily="2" charset="0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28E7FFB-05D3-AB21-22DE-266E6E738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89" y="0"/>
            <a:ext cx="1105838" cy="98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8426" y="4727399"/>
            <a:ext cx="80316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nl-NL" sz="1200" noProof="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onze eigen expertise aan te vullen met AI tools, kunnen we met deze stappen in snel tempo itereren. </a:t>
            </a:r>
            <a:endParaRPr lang="nl-NL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556084" y="1228576"/>
            <a:ext cx="3810000" cy="89490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5" name="Text 3"/>
          <p:cNvSpPr/>
          <p:nvPr/>
        </p:nvSpPr>
        <p:spPr>
          <a:xfrm>
            <a:off x="784684" y="1380976"/>
            <a:ext cx="34198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nl-NL" sz="1200" b="1" noProof="0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Beschrijven van functionele eisen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4684" y="1603177"/>
            <a:ext cx="341985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nl-NL" sz="12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Ondersteund door brainstorming met AI. We leveren een specificatie voor een eerste MVP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67000" y="2287179"/>
            <a:ext cx="3810000" cy="1269801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8" name="Text 6"/>
          <p:cNvSpPr/>
          <p:nvPr/>
        </p:nvSpPr>
        <p:spPr>
          <a:xfrm>
            <a:off x="2862072" y="2439580"/>
            <a:ext cx="34198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nl-NL" sz="1200" b="1" noProof="0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Architectuur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62072" y="2661780"/>
            <a:ext cx="341985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nl-NL" sz="12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Van softwarearchitectuur tot </a:t>
            </a:r>
            <a:r>
              <a:rPr lang="nl-NL" sz="1200" noProof="0" dirty="0" err="1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deploym</a:t>
            </a:r>
            <a:r>
              <a:rPr lang="nl-NL" sz="120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ent strategieën en CI/CD wordt ondersteund door AI. We leveren een compleet document op, met de volledige oplossingsrichting ter goedkeuring.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78301" y="3703129"/>
            <a:ext cx="3810000" cy="894904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11" name="Text 9"/>
          <p:cNvSpPr/>
          <p:nvPr/>
        </p:nvSpPr>
        <p:spPr>
          <a:xfrm>
            <a:off x="5167910" y="3805131"/>
            <a:ext cx="34198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nl-NL" sz="1200" b="1" noProof="0" dirty="0">
                <a:solidFill>
                  <a:srgbClr val="E5E2E1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Bouwen / testen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67910" y="4027331"/>
            <a:ext cx="341985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nl-NL" sz="12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Ontwikkeling en testen (unit / </a:t>
            </a:r>
            <a:r>
              <a:rPr lang="nl-NL" sz="1200" noProof="0" dirty="0" err="1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integration</a:t>
            </a:r>
            <a:r>
              <a:rPr lang="nl-NL" sz="12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 / end-</a:t>
            </a:r>
            <a:r>
              <a:rPr lang="nl-NL" sz="1200" noProof="0" dirty="0" err="1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to</a:t>
            </a:r>
            <a:r>
              <a:rPr lang="nl-NL" sz="1200" noProof="0" dirty="0">
                <a:solidFill>
                  <a:srgbClr val="BFC9C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-end) vindt plaats met ondersteuning door AI, maar gestuurd door ons.</a:t>
            </a:r>
            <a:endParaRPr lang="nl-NL" sz="1200" noProof="0" dirty="0">
              <a:latin typeface="Manrope Light" pitchFamily="2" charset="0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16967FC4-95B0-B885-6595-B6B5062C714B}"/>
              </a:ext>
            </a:extLst>
          </p:cNvPr>
          <p:cNvSpPr/>
          <p:nvPr/>
        </p:nvSpPr>
        <p:spPr>
          <a:xfrm>
            <a:off x="556084" y="416101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0"/>
              </a:spcBef>
              <a:spcAft>
                <a:spcPts val="600"/>
              </a:spcAft>
              <a:buNone/>
            </a:pPr>
            <a:r>
              <a:rPr lang="nl-NL" sz="2800" b="1" dirty="0">
                <a:solidFill>
                  <a:srgbClr val="89D6B3"/>
                </a:solidFill>
                <a:latin typeface="Manrope Light" pitchFamily="2" charset="0"/>
                <a:cs typeface="Arial" pitchFamily="34" charset="-120"/>
              </a:rPr>
              <a:t>Hoe we werken</a:t>
            </a:r>
            <a:endParaRPr lang="nl-NL" sz="2800" noProof="0" dirty="0">
              <a:latin typeface="Manrope Light" pitchFamily="2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35A368D-5081-E456-A841-514770D29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89" y="0"/>
            <a:ext cx="1105838" cy="98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A070BFC4-C747-DAD9-5322-906892A0965A}"/>
              </a:ext>
            </a:extLst>
          </p:cNvPr>
          <p:cNvSpPr/>
          <p:nvPr/>
        </p:nvSpPr>
        <p:spPr>
          <a:xfrm>
            <a:off x="556084" y="3792434"/>
            <a:ext cx="2953512" cy="83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nl-NL" sz="1400" b="1" noProof="0" dirty="0">
                <a:solidFill>
                  <a:srgbClr val="89D6B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We kunnen ook in reeds bestaande codebases versneld nieuwe functionaliteiten inbouwen</a:t>
            </a:r>
            <a:endParaRPr lang="nl-NL" sz="1400" noProof="0" dirty="0">
              <a:latin typeface="Manrope Light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C6060-36ED-3B23-5EE2-FA8E0250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C957BCB4-EEC6-016B-3ECD-8049EFE5C000}"/>
              </a:ext>
            </a:extLst>
          </p:cNvPr>
          <p:cNvSpPr/>
          <p:nvPr/>
        </p:nvSpPr>
        <p:spPr>
          <a:xfrm>
            <a:off x="556084" y="416101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0"/>
              </a:spcBef>
              <a:spcAft>
                <a:spcPts val="600"/>
              </a:spcAft>
              <a:buNone/>
            </a:pPr>
            <a:r>
              <a:rPr lang="nl-NL" sz="2800" b="1" dirty="0">
                <a:solidFill>
                  <a:srgbClr val="89D6B3"/>
                </a:solidFill>
                <a:latin typeface="Manrope Light" pitchFamily="2" charset="0"/>
                <a:cs typeface="Arial" pitchFamily="34" charset="-120"/>
              </a:rPr>
              <a:t>Demo</a:t>
            </a:r>
            <a:endParaRPr lang="nl-NL" sz="2800" noProof="0" dirty="0">
              <a:latin typeface="Manrope Light" pitchFamily="2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99FFB87C-6CD5-4E59-06DE-778ACC4E9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189" y="0"/>
            <a:ext cx="1105838" cy="98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5AC73E2-BB53-0C64-75DA-49B57C4A2111}"/>
              </a:ext>
            </a:extLst>
          </p:cNvPr>
          <p:cNvSpPr/>
          <p:nvPr/>
        </p:nvSpPr>
        <p:spPr>
          <a:xfrm>
            <a:off x="556084" y="1863502"/>
            <a:ext cx="3714164" cy="2003078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47A1130-8C58-CB6D-9ECE-3A7E10503868}"/>
              </a:ext>
            </a:extLst>
          </p:cNvPr>
          <p:cNvSpPr/>
          <p:nvPr/>
        </p:nvSpPr>
        <p:spPr>
          <a:xfrm>
            <a:off x="860884" y="2100293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nl-NL" sz="1400" b="1" noProof="0" dirty="0">
                <a:solidFill>
                  <a:srgbClr val="89D6B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PROMPT DEMO : Peter</a:t>
            </a:r>
            <a:endParaRPr lang="nl-NL" sz="1400" noProof="0" dirty="0">
              <a:latin typeface="Manrope Light" pitchFamily="2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16016DE1-7AA8-0935-948C-9B0FD042204B}"/>
              </a:ext>
            </a:extLst>
          </p:cNvPr>
          <p:cNvSpPr/>
          <p:nvPr/>
        </p:nvSpPr>
        <p:spPr>
          <a:xfrm>
            <a:off x="853518" y="2364676"/>
            <a:ext cx="31058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00"/>
              </a:spcAft>
              <a:buNone/>
            </a:pPr>
            <a:r>
              <a:rPr lang="nl-NL" sz="1200" b="1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Ifunds Grant Managent backoffice en Portaal vertalen naar Zweeds. </a:t>
            </a:r>
            <a:br>
              <a:rPr lang="nl-NL" sz="1200" b="1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</a:br>
            <a:r>
              <a:rPr lang="nl-NL" sz="1200" b="1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Live Claude Code in actie</a:t>
            </a:r>
            <a:endParaRPr lang="nl-NL" sz="1200" noProof="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62A0BDC-07E2-D835-8B04-432FADF50609}"/>
              </a:ext>
            </a:extLst>
          </p:cNvPr>
          <p:cNvSpPr/>
          <p:nvPr/>
        </p:nvSpPr>
        <p:spPr>
          <a:xfrm>
            <a:off x="4873602" y="1863502"/>
            <a:ext cx="3714164" cy="2003078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nl-NL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E7EEDCA-11AF-5A09-78FE-4F2335AAB2EC}"/>
              </a:ext>
            </a:extLst>
          </p:cNvPr>
          <p:cNvSpPr/>
          <p:nvPr/>
        </p:nvSpPr>
        <p:spPr>
          <a:xfrm>
            <a:off x="5178402" y="2118421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nl-NL" sz="1400" b="1" noProof="0" dirty="0">
                <a:solidFill>
                  <a:srgbClr val="89D6B3"/>
                </a:solidFill>
                <a:latin typeface="Manrope Light" pitchFamily="2" charset="0"/>
                <a:ea typeface="Arial" pitchFamily="34" charset="-122"/>
                <a:cs typeface="Arial" pitchFamily="34" charset="-120"/>
              </a:rPr>
              <a:t>RAG DEMO : Erik </a:t>
            </a:r>
            <a:endParaRPr lang="nl-NL" sz="1400" noProof="0" dirty="0">
              <a:latin typeface="Manrope Light" pitchFamily="2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E76B330-BE63-E083-EC83-11D505CA1D9F}"/>
              </a:ext>
            </a:extLst>
          </p:cNvPr>
          <p:cNvSpPr/>
          <p:nvPr/>
        </p:nvSpPr>
        <p:spPr>
          <a:xfrm>
            <a:off x="5171036" y="2364676"/>
            <a:ext cx="311944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000"/>
              </a:spcAft>
              <a:buNone/>
            </a:pPr>
            <a:r>
              <a:rPr lang="nl-NL" sz="1200" b="1" noProof="0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Ifunds Grant Management backoffice chat demo.</a:t>
            </a:r>
            <a:br>
              <a:rPr lang="nl-NL" sz="1200" b="1" noProof="0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</a:br>
            <a:r>
              <a:rPr lang="nl-NL" sz="1200" b="1" noProof="0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RAG – Retrieval </a:t>
            </a:r>
            <a:r>
              <a:rPr lang="nl-NL" sz="1200" b="1" noProof="0" dirty="0" err="1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Augmented</a:t>
            </a:r>
            <a:r>
              <a:rPr lang="nl-NL" sz="1200" b="1" noProof="0" dirty="0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 </a:t>
            </a:r>
            <a:r>
              <a:rPr lang="nl-NL" sz="1200" b="1" noProof="0" dirty="0" err="1">
                <a:solidFill>
                  <a:srgbClr val="E5E2E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Generation</a:t>
            </a:r>
            <a:endParaRPr lang="nl-NL" sz="1200" noProof="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8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135164" y="3929230"/>
            <a:ext cx="4665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600"/>
              </a:spcAft>
              <a:buNone/>
            </a:pPr>
            <a:r>
              <a:rPr lang="nl-NL" sz="1800" b="1" noProof="0" dirty="0">
                <a:solidFill>
                  <a:srgbClr val="89D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Klaar om uw idee werkelijkheid te maken?</a:t>
            </a:r>
            <a:endParaRPr lang="nl-NL" sz="1800" noProof="0" dirty="0"/>
          </a:p>
        </p:txBody>
      </p:sp>
      <p:sp>
        <p:nvSpPr>
          <p:cNvPr id="4" name="Text 2"/>
          <p:cNvSpPr/>
          <p:nvPr/>
        </p:nvSpPr>
        <p:spPr>
          <a:xfrm>
            <a:off x="2912485" y="4361408"/>
            <a:ext cx="14538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nl-NL" sz="1400" noProof="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info@altitecture.nl</a:t>
            </a:r>
            <a:endParaRPr lang="nl-NL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4845762" y="4361408"/>
            <a:ext cx="9774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nl-NL" sz="1400" noProof="0" dirty="0">
                <a:solidFill>
                  <a:srgbClr val="BFC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altitecture.nl</a:t>
            </a:r>
            <a:endParaRPr lang="nl-NL" sz="14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7ACA599-9CC1-A272-B0C5-082AD4B72F9A}"/>
              </a:ext>
            </a:extLst>
          </p:cNvPr>
          <p:cNvSpPr/>
          <p:nvPr/>
        </p:nvSpPr>
        <p:spPr>
          <a:xfrm>
            <a:off x="3122455" y="2045072"/>
            <a:ext cx="2700777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nl-NL" sz="4400" b="1" noProof="0" dirty="0">
                <a:solidFill>
                  <a:srgbClr val="89D6B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Altitecture</a:t>
            </a:r>
            <a:endParaRPr lang="nl-NL" sz="4400" noProof="0" dirty="0">
              <a:solidFill>
                <a:srgbClr val="89D6B3"/>
              </a:solidFill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09F3EB1-06AC-66E4-62BF-01CC30F5E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769" y="0"/>
            <a:ext cx="2418151" cy="2153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595EB9B9-1C2A-8DE1-B8DE-1D688C546E52}"/>
              </a:ext>
            </a:extLst>
          </p:cNvPr>
          <p:cNvSpPr/>
          <p:nvPr/>
        </p:nvSpPr>
        <p:spPr>
          <a:xfrm>
            <a:off x="835595" y="2972232"/>
            <a:ext cx="74728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nl-NL" sz="1600" noProof="0" dirty="0">
                <a:solidFill>
                  <a:srgbClr val="BFC9C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Klaar om projecten aan te nemen:  </a:t>
            </a:r>
          </a:p>
          <a:p>
            <a:pPr marL="0" indent="0" algn="ctr">
              <a:buNone/>
            </a:pPr>
            <a:r>
              <a:rPr lang="nl-NL" sz="1600" noProof="0" dirty="0">
                <a:solidFill>
                  <a:srgbClr val="BFC9C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Nieuwe (greenfield) projecten of bestaande software uitbreiden of </a:t>
            </a:r>
            <a:r>
              <a:rPr lang="nl-NL" sz="1600" noProof="0" dirty="0" err="1">
                <a:solidFill>
                  <a:srgbClr val="BFC9C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refactoren</a:t>
            </a:r>
            <a:r>
              <a:rPr lang="nl-NL" sz="1600" noProof="0" dirty="0">
                <a:solidFill>
                  <a:srgbClr val="BFC9C3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Arial" pitchFamily="34" charset="-120"/>
              </a:rPr>
              <a:t>.</a:t>
            </a:r>
            <a:endParaRPr lang="nl-NL" sz="1600" noProof="0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On-screen Show (16:9)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 Light</vt:lpstr>
      <vt:lpstr>Manrope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Altitecture - Introductie</dc:title>
  <dc:subject>Bedrijfspresentatie</dc:subject>
  <dc:creator>Altitecture</dc:creator>
  <cp:lastModifiedBy>Peter Schipper</cp:lastModifiedBy>
  <cp:revision>14</cp:revision>
  <dcterms:created xsi:type="dcterms:W3CDTF">2026-04-01T12:34:50Z</dcterms:created>
  <dcterms:modified xsi:type="dcterms:W3CDTF">2026-04-01T16:32:04Z</dcterms:modified>
</cp:coreProperties>
</file>